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games</c:v>
                </c:pt>
              </c:strCache>
            </c:strRef>
          </c:tx>
          <c:spPr>
            <a:solidFill>
              <a:srgbClr val="6B7A9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97-4E4D-BB7A-96963D3E1255}"/>
              </c:ext>
            </c:extLst>
          </c:dPt>
          <c:dPt>
            <c:idx val="1"/>
            <c:invertIfNegative val="0"/>
            <c:bubble3D val="0"/>
            <c:spPr>
              <a:solidFill>
                <a:srgbClr val="D05C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C97-4E4D-BB7A-96963D3E125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C97-4E4D-BB7A-96963D3E1255}"/>
              </c:ext>
            </c:extLst>
          </c:dPt>
          <c:dPt>
            <c:idx val="3"/>
            <c:invertIfNegative val="0"/>
            <c:bubble3D val="0"/>
            <c:spPr>
              <a:solidFill>
                <a:srgbClr val="3DB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C97-4E4D-BB7A-96963D3E125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DC97-4E4D-BB7A-96963D3E125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DC97-4E4D-BB7A-96963D3E1255}"/>
              </c:ext>
            </c:extLst>
          </c:dPt>
          <c:cat>
            <c:strRef>
              <c:f>Sheet1!$A$2:$A$7</c:f>
              <c:strCache>
                <c:ptCount val="6"/>
                <c:pt idx="0">
                  <c:v>Under $5</c:v>
                </c:pt>
                <c:pt idx="1">
                  <c:v>$5-$15</c:v>
                </c:pt>
                <c:pt idx="2">
                  <c:v>$15-$20</c:v>
                </c:pt>
                <c:pt idx="3">
                  <c:v>$20-$35</c:v>
                </c:pt>
                <c:pt idx="4">
                  <c:v>$35-$60</c:v>
                </c:pt>
                <c:pt idx="5">
                  <c:v>Over $60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1310</c:v>
                </c:pt>
                <c:pt idx="1">
                  <c:v>3174</c:v>
                </c:pt>
                <c:pt idx="2">
                  <c:v>1164</c:v>
                </c:pt>
                <c:pt idx="3">
                  <c:v>1307</c:v>
                </c:pt>
                <c:pt idx="4">
                  <c:v>593</c:v>
                </c:pt>
                <c:pt idx="5">
                  <c:v>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C97-4E4D-BB7A-96963D3E12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2E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Games in catalog</c:v>
                </c:pt>
              </c:strCache>
            </c:strRef>
          </c:tx>
          <c:spPr>
            <a:solidFill>
              <a:srgbClr val="6B7A9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E8-4B8A-A5CF-0CB9F679A133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AE8-4B8A-A5CF-0CB9F679A133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AE8-4B8A-A5CF-0CB9F679A133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AE8-4B8A-A5CF-0CB9F679A133}"/>
              </c:ext>
            </c:extLst>
          </c:dPt>
          <c:dPt>
            <c:idx val="4"/>
            <c:invertIfNegative val="0"/>
            <c:bubble3D val="0"/>
            <c:spPr>
              <a:solidFill>
                <a:srgbClr val="3DB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AE8-4B8A-A5CF-0CB9F679A133}"/>
              </c:ext>
            </c:extLst>
          </c:dPt>
          <c:dPt>
            <c:idx val="5"/>
            <c:invertIfNegative val="0"/>
            <c:bubble3D val="0"/>
            <c:spPr>
              <a:solidFill>
                <a:srgbClr val="3DB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AE8-4B8A-A5CF-0CB9F679A133}"/>
              </c:ext>
            </c:extLst>
          </c:dPt>
          <c:cat>
            <c:strRef>
              <c:f>Sheet1!$A$2:$A$7</c:f>
              <c:strCache>
                <c:ptCount val="6"/>
                <c:pt idx="0">
                  <c:v>0-5 hrs</c:v>
                </c:pt>
                <c:pt idx="1">
                  <c:v>5-10 hrs</c:v>
                </c:pt>
                <c:pt idx="2">
                  <c:v>10-15 hrs</c:v>
                </c:pt>
                <c:pt idx="3">
                  <c:v>15-20 hrs</c:v>
                </c:pt>
                <c:pt idx="4">
                  <c:v>20-30 hrs</c:v>
                </c:pt>
                <c:pt idx="5">
                  <c:v>30+ hrs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4221</c:v>
                </c:pt>
                <c:pt idx="1">
                  <c:v>1010</c:v>
                </c:pt>
                <c:pt idx="2">
                  <c:v>586</c:v>
                </c:pt>
                <c:pt idx="3">
                  <c:v>330</c:v>
                </c:pt>
                <c:pt idx="4">
                  <c:v>380</c:v>
                </c:pt>
                <c:pt idx="5">
                  <c:v>463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AE8-4B8A-A5CF-0CB9F679A1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B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E3A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B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2E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83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Market Intelligence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21031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Market Vacuums in the Steam Game Store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2286000" cy="2286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971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Framework for Strategic Game Development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DSL253 Major Project  · 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347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guesswork fails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quo: </a:t>
            </a:r>
            <a:r>
              <a:rPr lang="en-US" sz="13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pick price, genre and features based on intuition or 'Top Seller' lists.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5146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bias: </a:t>
            </a:r>
            <a:r>
              <a:rPr lang="en-US" sz="13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lists only show winners. Thousands of failed games are invisible - and that's exactly where bad decisions come from.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r>
              <a:rPr lang="en-US" sz="13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enter oversaturated markets (e.g. $5 indie platformers) or misjudge how much content players expect.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143000"/>
            <a:ext cx="2834640" cy="320040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143000"/>
            <a:ext cx="54864" cy="3200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280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gut-feel decisions to a quantitative, repeatable market entry strategy - using real Steam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926080"/>
            <a:ext cx="2468880" cy="22860"/>
          </a:xfrm>
          <a:prstGeom prst="rect">
            <a:avLst/>
          </a:prstGeom>
          <a:solidFill>
            <a:srgbClr val="333F55"/>
          </a:solidFill>
          <a:ln w="12700">
            <a:solidFill>
              <a:srgbClr val="333F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063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dashboard that spots high-demand, low-competition gaps - 'market vacuums.'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 "Market Vacuum"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347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vacuum is a specific combination of price point, content length and genre where player demand is demonstrably high but the number of competing titles is low.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metrics drive the analysis: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4023360" cy="8229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43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044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brackets are under-served?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651760"/>
            <a:ext cx="4023360" cy="8229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743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Length (hrs)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044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vs. demand at each playtime tier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57600"/>
            <a:ext cx="4023360" cy="8229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49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Tags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050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Cross-referencing saturation per tag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657600"/>
            <a:ext cx="4023360" cy="8229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7490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Success Score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4050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visibility + sentiment + revenue proxy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Building the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347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scraper captured 10,000+ game entries from the Steam Store.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"Backward Walk" technique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Steam's default search caps results, hiding older titles. The scraper gets around this by iterating through games in reverse release-date order - walking backward through time until the full catalog is captured.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us a historical picture of the market, not just what's trending today.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0" y="1508760"/>
            <a:ext cx="2834640" cy="566928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1508760"/>
            <a:ext cx="54864" cy="5669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08192" y="164592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 Store (source)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69480" y="2075688"/>
            <a:ext cx="54864" cy="22860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2313432"/>
            <a:ext cx="2834640" cy="566928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2313432"/>
            <a:ext cx="54864" cy="566928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24505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Walk iterator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2880360"/>
            <a:ext cx="54864" cy="22860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3118104"/>
            <a:ext cx="2834640" cy="566928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3118104"/>
            <a:ext cx="54864" cy="56692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32552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10,000+ entry catalog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3685032"/>
            <a:ext cx="54864" cy="228600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3922776"/>
            <a:ext cx="2834640" cy="566928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3922776"/>
            <a:ext cx="54864" cy="5669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08192" y="405993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cleaning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Cleaning &amp;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347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1556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13385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517904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playtimes and tags often missing. Rather than dropping rows (which biases the dataset), gaps were filled with the column's statistical median, preserving volume while keeping averages neutral.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8138160" cy="16459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77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39572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categories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79776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non-game categories - software, sports sims, NSFW content - were removed with a blacklist filter to keep the analysis focused on the core gaming market.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8138160" cy="16459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393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malformed entries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041648"/>
            <a:ext cx="7680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app IDs and entries with corrupted tag data were dropped, leaving a clean, consistent dataset ready for modelling.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 Predictive Modelling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347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Regressor was trained on the full 10,000-game dataset to identify which combinations of features predict high success scores.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score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metric built from three proxies: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page visibility &amp; review count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2735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sentiment (review score)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62102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143000"/>
            <a:ext cx="2926080" cy="347472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280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6916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isn't driven by any single feature. The model consistently shows that pairing the right price point with the right content length - multi-factor optimisation - is what separates high-performing titles from the rest.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611880"/>
            <a:ext cx="2560320" cy="16459"/>
          </a:xfrm>
          <a:prstGeom prst="rect">
            <a:avLst/>
          </a:prstGeom>
          <a:solidFill>
            <a:srgbClr val="333F55"/>
          </a:solidFill>
          <a:ln w="12700">
            <a:solidFill>
              <a:srgbClr val="333F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749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on: 10,000 games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4041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Random Forest Regressor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347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HTML5, Chart.js and Tailwind CSS. Three core views: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Matrix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4767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bubble chart mapping every game by price and content length, sized by success score. Empty regions of the chart are the vacuums.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8138160" cy="16459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974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Chart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4495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release counts overlaid with average success scores. Identifies low-competition launch windows where titles get more visibility.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703320"/>
            <a:ext cx="8138160" cy="16459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79476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View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142232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the model's output - which tags, price ranges and playtime tiers actually correlate with success, ranked by impact.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75488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pipeline diagram here 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1 - The Mid-Tier Pricing Vacuum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347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05156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097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508760"/>
            <a:ext cx="2834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$5-$15 bracket dominates with 3,174 games - nearly 3x every other band. While $20-$35 has similar raw numbers to the under-$5 tier (1,307 vs 1,310), its average success score is 78% higher (31.3 vs 17.6), making it the most efficient price point in the dataset.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3041030"/>
            <a:ext cx="2834640" cy="16459"/>
          </a:xfrm>
          <a:prstGeom prst="rect">
            <a:avLst/>
          </a:prstGeom>
          <a:solidFill>
            <a:srgbClr val="333F55"/>
          </a:solidFill>
          <a:ln w="12700">
            <a:solidFill>
              <a:srgbClr val="333F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31724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324612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at $25+. This avoids the race to the bottom at $5 and positions the title as "premium indie" - a label that both justifies the price and increases discoverability.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2 - The 20-Hour Content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347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05156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09728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50876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0-5 hr bucket has 4,221 games - over 4x any other tier. Supply collapses above 15 hours. Despite having more entries than 15-20 hrs, the 30+ hr tier earns an average success score of 49.8, compared to just 20.3 for sub-5-hour titles.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0" y="3013862"/>
            <a:ext cx="2834640" cy="16459"/>
          </a:xfrm>
          <a:prstGeom prst="rect">
            <a:avLst/>
          </a:prstGeom>
          <a:solidFill>
            <a:srgbClr val="333F55"/>
          </a:solidFill>
          <a:ln w="12700">
            <a:solidFill>
              <a:srgbClr val="333F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325526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342900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at least 20 hours of core gameplay. A developer who hits this threshold automatically enters the low-competition, high-demand teal zone on the chart.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503920" y="347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22860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three-step market entry strategy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8138160" cy="896112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54864" cy="89611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27632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at $25+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975104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crowded $5-$15 band. The mid-tier bracket offers premium-indie visibility with a fraction of the competition.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578608"/>
            <a:ext cx="8138160" cy="896112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578608"/>
            <a:ext cx="54864" cy="896112"/>
          </a:xfrm>
          <a:prstGeom prst="rect">
            <a:avLst/>
          </a:prstGeom>
          <a:solidFill>
            <a:srgbClr val="3DBFA0"/>
          </a:solidFill>
          <a:ln w="12700">
            <a:solidFill>
              <a:srgbClr val="3DB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5176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for 20+ hours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999232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demand and review scores peak in the 20 hr+ tier. Most releases fall well below this - it's the clearest supply gap in the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02736"/>
            <a:ext cx="8138160" cy="896112"/>
          </a:xfrm>
          <a:prstGeom prst="rect">
            <a:avLst/>
          </a:prstGeom>
          <a:solidFill>
            <a:srgbClr val="242E42"/>
          </a:solidFill>
          <a:ln w="12700">
            <a:solidFill>
              <a:srgbClr val="24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602736"/>
            <a:ext cx="54864" cy="89611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7588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the launch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40233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seasonality chart to identify months where the success-to-release ratio is highest. Fewer competitors in a given month means more store-page visibility.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466344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decisions consistently outperform gut instinct on the Steam platform.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930</Words>
  <Application>Microsoft Office PowerPoint</Application>
  <PresentationFormat>On-screen Show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Steam Market Intelligence</dc:title>
  <dc:subject>PptxGenJS Presentation</dc:subject>
  <dc:creator>PptxGenJS</dc:creator>
  <cp:lastModifiedBy>deathslash945@gmail.com</cp:lastModifiedBy>
  <cp:revision>2</cp:revision>
  <dcterms:created xsi:type="dcterms:W3CDTF">2026-04-25T12:46:12Z</dcterms:created>
  <dcterms:modified xsi:type="dcterms:W3CDTF">2026-04-25T12:48:51Z</dcterms:modified>
</cp:coreProperties>
</file>